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42032"/>
            <a:ext cx="12188952" cy="36576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548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>
                <a:solidFill>
                  <a:srgbClr val="FFFFFF"/>
                </a:solidFill>
              </a:rPr>
              <a:t>Persistencia Homológica para Detectar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11548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 i="0">
                <a:solidFill>
                  <a:srgbClr val="FFFFFF"/>
                </a:solidFill>
              </a:rPr>
              <a:t>y Resolver Desiertos de Salud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11680"/>
            <a:ext cx="1154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ACCFF"/>
                </a:solidFill>
              </a:rPr>
              <a:t>Ciudad de México  y  Estado de México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88920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Mario Carlos Gaitan Reyna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20040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ACC"/>
                </a:solidFill>
              </a:rPr>
              <a:t>Datos:  DENUE 2023 (INEGI)  ·  Censo de Población y Vivienda 2020 (INEGI)  ·  OpenStreetMap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52044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ACC"/>
                </a:solidFill>
              </a:rPr>
              <a:t>Zona Metropolitana del Valle de México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97680"/>
            <a:ext cx="11548872" cy="1005840"/>
          </a:xfrm>
          <a:prstGeom prst="rect">
            <a:avLst/>
          </a:prstGeom>
          <a:solidFill>
            <a:srgbClr val="0E1F38"/>
          </a:solidFill>
          <a:ln w="15240">
            <a:solidFill>
              <a:srgbClr val="E0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434840"/>
            <a:ext cx="111831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8214"/>
                </a:solidFill>
              </a:rPr>
              <a:t>270,000 personas sin seguro médico atrapadas en desiertos de salud topológicos  ·  46 huecos críticos CDMX + 77 EDOMEX  ·  K=7 clínicas óptimas para CDMX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El Problema: Desiertos de Salud Estructurales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60350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El problema no es escasez — es distribución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CDMX tiene 21,585 clínicas; EDOMEX tiene 30,787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A primera vista no debería haber escasez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Las métricas tradicionales son ciegas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Densidad de clínicas por km² ✗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Radio de cobertura de 500 m ✗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Establecimientos por municipio ✗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Un desierto estructural es invisible para ellas: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zona rodeada de clínicas por fuera, vacía por dentro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La persona de adentro puede estar a 2 km de la más cercana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aunque el mapa de densidad de su colonia se vea 'verde'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6792" y="1188720"/>
            <a:ext cx="2651760" cy="1188720"/>
          </a:xfrm>
          <a:prstGeom prst="rect">
            <a:avLst/>
          </a:prstGeom>
          <a:solidFill>
            <a:srgbClr val="1A3558"/>
          </a:solidFill>
          <a:ln w="15240">
            <a:solidFill>
              <a:srgbClr val="E0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6792" y="12344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08214"/>
                </a:solidFill>
              </a:rPr>
              <a:t>21,585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792" y="1783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clínicas CDMX</a:t>
            </a:r>
          </a:p>
        </p:txBody>
      </p:sp>
      <p:sp>
        <p:nvSpPr>
          <p:cNvPr id="9" name="Rectangle 8"/>
          <p:cNvSpPr/>
          <p:nvPr/>
        </p:nvSpPr>
        <p:spPr>
          <a:xfrm>
            <a:off x="9262872" y="1188720"/>
            <a:ext cx="2651760" cy="1188720"/>
          </a:xfrm>
          <a:prstGeom prst="rect">
            <a:avLst/>
          </a:prstGeom>
          <a:solidFill>
            <a:srgbClr val="1A3558"/>
          </a:solidFill>
          <a:ln w="15240">
            <a:solidFill>
              <a:srgbClr val="E0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62872" y="12344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08214"/>
                </a:solidFill>
              </a:rPr>
              <a:t>30,787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62872" y="1783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clínicas EDOMEX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2606040"/>
            <a:ext cx="2651760" cy="1280160"/>
          </a:xfrm>
          <a:prstGeom prst="rect">
            <a:avLst/>
          </a:prstGeom>
          <a:solidFill>
            <a:srgbClr val="1A3558"/>
          </a:solidFill>
          <a:ln w="15240">
            <a:solidFill>
              <a:srgbClr val="E0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2" y="2651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2182B"/>
                </a:solidFill>
              </a:rPr>
              <a:t>270,000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200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personas sin seguro
en desiertos topológicos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623560"/>
            <a:ext cx="11548872" cy="1005840"/>
          </a:xfrm>
          <a:prstGeom prst="rect">
            <a:avLst/>
          </a:prstGeom>
          <a:solidFill>
            <a:srgbClr val="1A3558"/>
          </a:solidFill>
          <a:ln w="15240">
            <a:solidFill>
              <a:srgbClr val="E0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705856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8214"/>
                </a:solidFill>
              </a:rPr>
              <a:t>Pregunta central: ¿Dónde están esos desiertos, cuánta población atrapan y cómo priorizamos las inversiones para resolver los más críticos?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Pipeline Metodológico — Seis Etapas Integradas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787652" cy="1280160"/>
          </a:xfrm>
          <a:prstGeom prst="rect">
            <a:avLst/>
          </a:prstGeom>
          <a:solidFill>
            <a:srgbClr val="439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9304"/>
            <a:ext cx="17876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①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37360"/>
            <a:ext cx="17876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DENUE 2023
Censo 2020
OpenStreetMap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7692" y="17373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272284" y="1234440"/>
            <a:ext cx="1787652" cy="128016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72284" y="1289304"/>
            <a:ext cx="17876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② TDA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2284" y="1737360"/>
            <a:ext cx="17876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Alpha Complex
Laguerre (pesos)
persist. &gt; 200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9936" y="17373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234440"/>
            <a:ext cx="1787652" cy="1280160"/>
          </a:xfrm>
          <a:prstGeom prst="rect">
            <a:avLst/>
          </a:prstGeom>
          <a:solidFill>
            <a:srgbClr val="1B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1289304"/>
            <a:ext cx="17876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③ CRUCE
CENSAL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737360"/>
            <a:ext cx="17876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AGEB 2020
PSINDER
Índ. Marginación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2180" y="17373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6772" y="1234440"/>
            <a:ext cx="1787652" cy="1280160"/>
          </a:xfrm>
          <a:prstGeom prst="rect">
            <a:avLst/>
          </a:prstGeom>
          <a:solidFill>
            <a:srgbClr val="762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6772" y="1289304"/>
            <a:ext cx="17876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④ RED VIAL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6772" y="1737360"/>
            <a:ext cx="17876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OSMnx 4.5 km/h
Isócronas 15 min
Tiempos reales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4424" y="17373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9016" y="1234440"/>
            <a:ext cx="1787652" cy="1280160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6" y="1289304"/>
            <a:ext cx="17876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⑤ SCORING
+MCLP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1737360"/>
            <a:ext cx="17876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Score 4 ejes
Filtro OR
Programación lineal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6668" y="17373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81260" y="1234440"/>
            <a:ext cx="1787652" cy="1280160"/>
          </a:xfrm>
          <a:prstGeom prst="rect">
            <a:avLst/>
          </a:prstGeom>
          <a:solidFill>
            <a:srgbClr val="B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81260" y="1289304"/>
            <a:ext cx="17876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⑥ VALIDACIÓN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1260" y="1737360"/>
            <a:ext cx="17876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Cierre topológico
Robustez umbral
100% estable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2624328"/>
            <a:ext cx="17876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21,585 / 30,787
estab. SCIAN 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72284" y="2624328"/>
            <a:ext cx="17876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118 CDMX huecos
241 EDOMEX huecos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2624328"/>
            <a:ext cx="17876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62 / 180 habitados
~270k sin seguro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6772" y="2624328"/>
            <a:ext cx="17876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Umbral &gt; 15 min
Red peatonal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9016" y="2624328"/>
            <a:ext cx="17876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46 / 77 prioritarios
39 / 74 clusters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1260" y="2624328"/>
            <a:ext cx="17876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−14.9% / −16.5%
persistencia total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532120"/>
            <a:ext cx="11548872" cy="987552"/>
          </a:xfrm>
          <a:prstGeom prst="rect">
            <a:avLst/>
          </a:prstGeom>
          <a:solidFill>
            <a:srgbClr val="F2F2F2"/>
          </a:solidFill>
          <a:ln w="15240">
            <a:solidFill>
              <a:srgbClr val="1A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60527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58"/>
                </a:solidFill>
              </a:rPr>
              <a:t>Resultado: K=7 clínicas en CDMX cubren 42,687 personas (44.0%)  ·  K=9 clínicas ubicables en EDOMEX cubren 35,868 personas (19.0%)  ·  Validado con persistencia homológica y curvas de robustez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Los Datos: DENUE 2023 y Censo 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11548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Dos fuentes complementarias: dónde están las clínicas y a quién afectan los vacíos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614416" cy="5623560"/>
          </a:xfrm>
          <a:prstGeom prst="rect">
            <a:avLst/>
          </a:prstGeom>
          <a:solidFill>
            <a:srgbClr val="E8F2FA"/>
          </a:solidFill>
          <a:ln w="15240">
            <a:solidFill>
              <a:srgbClr val="439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431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8"/>
                </a:solidFill>
              </a:rPr>
              <a:t>DENUE 2023 — Establecimientos de Salud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340096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Sector SCIAN 62: Servicios de salud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Hospitales, consultorios, farmacias con consultorio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Clave PER_OCU: personas ocupadas (tamaño)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Rango texto → valor numérico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1–2 pers. hasta 251–500 pers.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¿Por qué importa el tamaño?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Un hospital de 300 empleados cubre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mucho más territorio que un consultorio de 2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Radio de influencia ∝ √(per_ocu) [Laguerre]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143000"/>
            <a:ext cx="5614416" cy="5623560"/>
          </a:xfrm>
          <a:prstGeom prst="rect">
            <a:avLst/>
          </a:prstGeom>
          <a:solidFill>
            <a:srgbClr val="F2FBF2"/>
          </a:solidFill>
          <a:ln w="15240">
            <a:solidFill>
              <a:srgbClr val="1B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234440"/>
            <a:ext cx="5431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8"/>
                </a:solidFill>
              </a:rPr>
              <a:t>Censo 2020 — AGEB Urbanas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45936.0" y="1645920"/>
          <a:ext cx="4206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920240"/>
                <a:gridCol w="109728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Qué mide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Uso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PSINDER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Personas sin derechohabiencia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Eje 2 y eje 4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GRAPROES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Grado promedio escolaridad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Índice marg.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P60YMAS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Pob. 60 años y más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Índice marg.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POBTOT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Población total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Normalización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AGEB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Área ~manzanas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Cruce espacial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45936" y="4114800"/>
            <a:ext cx="54315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2182B"/>
                </a:solidFill>
              </a:rPr>
              <a:t>Variable crítica: PSINDER
Sin seguro médico = sin alternativa cuando la clínica más cercana está lejos
270,000 personas en esa situación exacta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Análisis Topológico de Datos: Alpha Complex y Persistencia H₁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5120640" cy="562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¿Qué es un hueco H₁?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Ciclo cerrado de clínicas que rodea un espacio vacío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Detectado sin importar la forma del contorno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Alpha Complex: construir la topología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Crecer disco de radio α alrededor de cada clínica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Aristas cuando dos discos se tocan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Triángulos cuando tres se tocan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Persistencia = radio_muerte − radio_nacimiento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Mide qué tan grande es el vacío (en metros)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Alta persistencia → vacío estructural robusto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Baja persistencia → ruido entre consultorios</a:t>
            </a:r>
          </a:p>
        </p:txBody>
      </p:sp>
      <p:pic>
        <p:nvPicPr>
          <p:cNvPr id="6" name="Picture 5" descr="persistencia_CDM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097280"/>
            <a:ext cx="6382512" cy="21283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Weighted Alpha Complex (Laguerre): El Tamaño Importa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11548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Radio de influencia proporcional al tamaño del establecimiento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El Alpha clásico trata todo igual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Farmacia de 2 empleados ≡ Hospital de 300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Genera falsos positivos donde hay hospitales grandes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Solución: radio proporcional a √(per_ocu)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r_i = k · √(per_ocu_i)  →  Diagrama de Laguerre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Cada punto del plano pertenece a la clínica</a:t>
            </a: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</a:rPr>
              <a:t>que mejor puede cubrirlo (dist. − radio)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3611880"/>
          <a:ext cx="49377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18872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Métrica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Alpha clásico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Laguerre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Cambio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Huecos CDMX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+66.2%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Huecos EDOMEX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209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241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+15.3%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Causa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Hospitales grandes</a:t>
                      </a:r>
                    </a:p>
                    <a:p>
                      <a:r>
                        <a:t>'rellenan' huecos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Expone vacíos</a:t>
                      </a:r>
                    </a:p>
                    <a:p>
                      <a:r>
                        <a:t>que el hospital</a:t>
                      </a:r>
                    </a:p>
                    <a:p>
                      <a:r>
                        <a:t>no alcanza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6126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CDMX +66%: mayor heterogeneidad (IMSS, ISSSTE, privados + micro-consultorios)</a:t>
            </a:r>
          </a:p>
        </p:txBody>
      </p:sp>
      <p:pic>
        <p:nvPicPr>
          <p:cNvPr id="9" name="Picture 8" descr="laguerre_compa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097280"/>
            <a:ext cx="6473952" cy="278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Calibración: min_persistencia = 200 m y Robustez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11548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Punto de equilibrio entre señal estructural y ruido topológico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88720"/>
          <a:ext cx="4937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118872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Umbral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Huecos CDMX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Huecos EDOMEX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Interpretación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100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Micro-brechas entre consultorios adyacentes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200 m ✓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118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241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Señal estructural: vacíos ≥ 1 cuadra larga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400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Solo los más severos; pierde huecos medianos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600 m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58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Únicamente vacíos de escala de colonia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20040" y="3291840"/>
            <a:ext cx="5029200" cy="868680"/>
          </a:xfrm>
          <a:prstGeom prst="rect">
            <a:avLst/>
          </a:prstGeom>
          <a:solidFill>
            <a:srgbClr val="E8F5E9"/>
          </a:solidFill>
          <a:ln w="15240">
            <a:solidFill>
              <a:srgbClr val="1B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355848"/>
            <a:ext cx="4846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7837"/>
                </a:solidFill>
              </a:rPr>
              <a:t>Prueba de robustez:  Los 7 huecos de 600 m en CDMX aparecen también a 100, 200 y 400 m (100%).
Los 58 de EDOMEX ídem. Los huecos más severos son señales topológicas sólidas.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297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200 m = un espacio donde ninguna clínica está a &lt; 200 m.
Para el interior del vacío, la distancia real puede ser &gt; 500 m.</a:t>
            </a:r>
          </a:p>
        </p:txBody>
      </p:sp>
      <p:pic>
        <p:nvPicPr>
          <p:cNvPr id="10" name="Picture 9" descr="robustez_conteo_hue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097280"/>
            <a:ext cx="6473952" cy="27554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Resultados Topológicos e Impacto Demográfico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11548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Del algoritmo a las personas: ¿quién vive dentro de los vacíos?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651760" cy="1188720"/>
          </a:xfrm>
          <a:prstGeom prst="rect">
            <a:avLst/>
          </a:prstGeom>
          <a:solidFill>
            <a:srgbClr val="1A3558"/>
          </a:solidFill>
          <a:ln w="15240">
            <a:solidFill>
              <a:srgbClr val="E0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393C3"/>
                </a:solidFill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huecos topológicos
CDMX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143000"/>
            <a:ext cx="2651760" cy="1188720"/>
          </a:xfrm>
          <a:prstGeom prst="rect">
            <a:avLst/>
          </a:prstGeom>
          <a:solidFill>
            <a:srgbClr val="1A3558"/>
          </a:solidFill>
          <a:ln w="15240">
            <a:solidFill>
              <a:srgbClr val="E0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1887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604D"/>
                </a:solidFill>
              </a:rPr>
              <a:t>241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737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huecos topológicos
EDOMEX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143000"/>
            <a:ext cx="2651760" cy="1188720"/>
          </a:xfrm>
          <a:prstGeom prst="rect">
            <a:avLst/>
          </a:prstGeom>
          <a:solidFill>
            <a:srgbClr val="1B4730"/>
          </a:solidFill>
          <a:ln w="15240">
            <a:solidFill>
              <a:srgbClr val="E0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1887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62/180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737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habitados (filtro Censo
CDMX / EDOMEX)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143000"/>
            <a:ext cx="3291840" cy="1188720"/>
          </a:xfrm>
          <a:prstGeom prst="rect">
            <a:avLst/>
          </a:prstGeom>
          <a:solidFill>
            <a:srgbClr val="B2182B"/>
          </a:solidFill>
          <a:ln w="15240">
            <a:solidFill>
              <a:srgbClr val="E0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188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270,000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7373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personas sin seguro
en desiertos topológicos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560320"/>
            <a:ext cx="115488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58"/>
                </a:solidFill>
              </a:rPr>
              <a:t>CDMX: Cluster 1 (poniente) → 7,525 sin seguro, clínica más cercana &gt; 12 min caminando
EDOMEX: Cluster 5 (norponiente) → 23,869 sin seguro en 3 huecos; 33.7% de la zona sin derechohabiencia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3383280"/>
          <a:ext cx="67665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645920"/>
                <a:gridCol w="256032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Región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Huecos con pobl.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Personas sin seguro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Concentración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CDMX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~88,000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Alta en zonas periféricas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EDOMEX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~182,000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Mayor dispersión geográfica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~270,000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≈ población de una ciudad media MX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" name="Picture 19" descr="matriz_riesgo_CDM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331720"/>
            <a:ext cx="4572000" cy="20636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Accesibilidad Real: Red Vial Peatonal con OSMnx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11548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Distancia euclidiana × 1.35 subestima barreras reales: barrancas, vías rápidas, zonas industriales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029200" cy="562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¿Por qué la distancia euclidiana no basta?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800 m en línea recta ≠ 800 m caminando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Vías rápidas sin cruce, barrancas, muros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OSMnx: red vial peatonal de OpenStreetMap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Velocidad estándar: 4.5 km/h peatonal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Isócronas = polígonos alcanzables en t minutos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concave_hull(ratio=0.4) → forma real de la red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Umbral de intervención: 15 minutos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Respaldado por literatura de salud pública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Reducción significativa de consulta preventiva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cuando la barrera supera este umbral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Huecos más críticos: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CDMX: hasta 35 min (Álvaro Obregón, Xochimilco)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EDOMEX: más de 40 min (zonas norte y oriente)</a:t>
            </a:r>
          </a:p>
        </p:txBody>
      </p:sp>
      <p:pic>
        <p:nvPicPr>
          <p:cNvPr id="7" name="Picture 6" descr="isocronas_roma_n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051560"/>
            <a:ext cx="651967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Scoring Multi-eje y Selección de Huecos Prioritarios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11548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score = 0.25·r_tiempo + 0.25·r_sin_seguro + 0.25·r_persistencia + 0.25·r_marginación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4937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  <a:gridCol w="6400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Eje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Peso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Umbral filtro OR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① Inaccesibilidad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Tiempo caminata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&gt; 10 min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② Inequidad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Personas sin seguro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&gt; percentil 60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③ Topológico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Persistencia del hueco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&gt; 400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④ Marginación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Índice compuesto Censo 2020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&gt; percentil 60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154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Ventaja del percentil: evita que un eje domine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Filtro OR: basta cumplir 1 de 4 ejes → entra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Descartados: micro-brechas bajas en los 4 simultáneamente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DBSCAN (eps=1500 m): huecos cercanos = una decisión de inversión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5394960"/>
            <a:ext cx="2286000" cy="1188720"/>
          </a:xfrm>
          <a:prstGeom prst="rect">
            <a:avLst/>
          </a:prstGeom>
          <a:solidFill>
            <a:srgbClr val="1A3558"/>
          </a:solidFill>
          <a:ln w="15240">
            <a:solidFill>
              <a:srgbClr val="E0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5440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393C3"/>
                </a:solidFill>
              </a:rPr>
              <a:t>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989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huecos prioritarios
CDMX  →  39 clusters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5394960"/>
            <a:ext cx="2286000" cy="1188720"/>
          </a:xfrm>
          <a:prstGeom prst="rect">
            <a:avLst/>
          </a:prstGeom>
          <a:solidFill>
            <a:srgbClr val="1A3558"/>
          </a:solidFill>
          <a:ln w="15240">
            <a:solidFill>
              <a:srgbClr val="E0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5440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6604D"/>
                </a:solidFill>
              </a:rPr>
              <a:t>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5989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huecos prioritarios
EDOMEX  →  74 clusters</a:t>
            </a:r>
          </a:p>
        </p:txBody>
      </p:sp>
      <p:pic>
        <p:nvPicPr>
          <p:cNvPr id="14" name="Picture 13" descr="clusters_geograf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051560"/>
            <a:ext cx="6519672" cy="39144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CDMX — Optimización MCLP: ¿Cuántas Clínicas y Dónde?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11548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Maximum Coverage Location Problem · demanda = score × personas_sin_seguro · cobertura ≤ 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1A3558"/>
                </a:solidFill>
              </a:rPr>
              <a:t>MCLP: max Σ (score_i × pob_sin_salud_i) · y_i  s.t.  Σ x_j = K,  y_i ≤ Σ C_ij·x_j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45920"/>
          <a:ext cx="30175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188720"/>
                <a:gridCol w="1234440"/>
              </a:tblGrid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% cubierto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Incremento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38.6%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+5.6 pp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7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44.0%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+5.3 pp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49.1%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+5.1 pp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+4.0 pp ↓</a:t>
                      </a:r>
                    </a:p>
                  </a:txBody>
                  <a:tcPr/>
                </a:tc>
              </a:tr>
              <a:tr h="37229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56.1%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+3.0 pp ↓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0040" y="4343400"/>
            <a:ext cx="4937760" cy="914400"/>
          </a:xfrm>
          <a:prstGeom prst="rect">
            <a:avLst/>
          </a:prstGeom>
          <a:solidFill>
            <a:srgbClr val="E8F2FA"/>
          </a:solidFill>
          <a:ln w="15240">
            <a:solidFill>
              <a:srgbClr val="439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407408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58"/>
                </a:solidFill>
              </a:rPr>
              <a:t>K=7: último punto con &gt;5 pp por clínica.
K=8→9 muestra la caída más pronunciada (−1.1 pp):
los huecos de mayor densidad ya están cubiertos.</a:t>
            </a:r>
          </a:p>
        </p:txBody>
      </p:sp>
      <p:pic>
        <p:nvPicPr>
          <p:cNvPr id="10" name="Picture 9" descr="fase3_CDMX_k7_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51560"/>
            <a:ext cx="6656832" cy="82660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CDMX K=7: Análisis de los 4 Ejes — ¿Qué Cubre y Qué Persiste?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11548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11 huecos cubiertos · 35 persistentes · 42,687 personas sin seguro cubiertas (44.0%)</a:t>
            </a:r>
          </a:p>
        </p:txBody>
      </p:sp>
      <p:pic>
        <p:nvPicPr>
          <p:cNvPr id="6" name="Picture 5" descr="fase3_CDMX_k7_ej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48872" cy="3566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4754880"/>
          <a:ext cx="973836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600200"/>
                <a:gridCol w="5029200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Eje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Cubiertos (11)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Persistentes (35)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Lectura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Tiempo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7.89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9.27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MCLP cubre los más accesibles con más población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Sin seguro (pers.)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3,881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1,555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Priorización correcta por inequidad (×2.5)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Persistencia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Vacíos más grandes quedan fuera (zonas periféricas)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Marginación (IM)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0.35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0.29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</a:rPr>
                        <a:t>El 4.° eje redirige a zonas más vulnerables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EDOMEX — Por Qué una Estrategia Distinta: K=12 Subregional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94944"/>
            <a:ext cx="11548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Curva lineal sin codo → la solución no es un K global sino dividir 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La curva K=5→10 de EDOMEX es casi lineal: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~+2 pp por clínica; no hay codo ni punto óptimo único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74 de 77 clusters son singletons → alta dispersión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ZMVM, Norte, Poniente y Oriente no se comunican a 15 min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Solución: K=3 por zona (equidad geográfica)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K=3 uniforme corrige que ZMVM ya tiene más infraestructura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Norte y Poniente tienen huecos más persistentes estructuralmente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3383280"/>
          <a:ext cx="48463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85800"/>
                <a:gridCol w="685800"/>
                <a:gridCol w="1417320"/>
                <a:gridCol w="868680"/>
              </a:tblGrid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Zona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Huecos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Sin seguro cub.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local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1,182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13.9%</a:t>
                      </a:r>
                    </a:p>
                  </a:txBody>
                  <a:tcPr/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Poniente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10,243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23.0%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ZMVM-Centro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24,443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19.7%</a:t>
                      </a:r>
                    </a:p>
                  </a:txBody>
                  <a:tcPr/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Oriente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Sin candidatos válidos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9 ubicables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35,868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19.0%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6355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2182B"/>
                </a:solidFill>
              </a:rPr>
              <a:t>Oriente: 6 huecos, 12,270 sin seguro. Requiere umbral extendido o clínicas móviles.</a:t>
            </a:r>
          </a:p>
        </p:txBody>
      </p:sp>
      <p:pic>
        <p:nvPicPr>
          <p:cNvPr id="9" name="Picture 8" descr="fase3_EDOMEX_subregional_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51560"/>
            <a:ext cx="6656832" cy="34708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23544"/>
            <a:ext cx="12188952" cy="36576"/>
          </a:xfrm>
          <a:prstGeom prst="rect">
            <a:avLst/>
          </a:prstGeom>
          <a:solidFill>
            <a:srgbClr val="E0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Validación Topológica y 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8"/>
                </a:solidFill>
              </a:rPr>
              <a:t>Cierre topológico: ¿las clínicas nuevas realmente cierran los huecos?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554480"/>
          <a:ext cx="5166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417320"/>
                <a:gridCol w="1234440"/>
                <a:gridCol w="132588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Condición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CDMX K=7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EDOMEX K=12</a:t>
                      </a:r>
                    </a:p>
                  </a:txBody>
                  <a:tcPr>
                    <a:solidFill>
                      <a:srgbClr val="1A355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Cerrado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d &lt; pers_m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 / 46  (7%)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6 / 77  (8%)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Parcial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pers_m ≤ d &lt; 2·r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4 / 46  (9%)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2 / 77  (3%)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Persistente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d ≥ 2·pers_m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39 / 46 (85%)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69 / 77 (90%)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Δ persist.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reducción total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−14.9%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</a:rPr>
                        <a:t>−16.5%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20040" y="3657600"/>
            <a:ext cx="5303520" cy="731520"/>
          </a:xfrm>
          <a:prstGeom prst="rect">
            <a:avLst/>
          </a:prstGeom>
          <a:solidFill>
            <a:srgbClr val="FFF8E1"/>
          </a:solidFill>
          <a:ln w="15240">
            <a:solidFill>
              <a:srgbClr val="E0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7033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04000"/>
                </a:solidFill>
              </a:rPr>
              <a:t>MCLP y cierre topológico miden cosas distintas: MCLP optimiza acceso
poblacional (≤15 min caminando). Cierre topológico requiere d &lt; pers_m del centroide.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480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8"/>
                </a:solidFill>
              </a:rPr>
              <a:t>Conclusiones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84632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El problema es distribución, no escasez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21k / 30k clínicas con 118 / 241 vacíos estructurales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La topología revela lo que la densidad no ve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+66% huecos vs Alpha clásico en CDMX con Laguerre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El 4.° eje (marginación) cambia quién recibe inversión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</a:rPr>
              <a:t>IM cubiertos 0.35 &gt; 0.29 persistentes → más justo</a:t>
            </a:r>
          </a:p>
        </p:txBody>
      </p:sp>
      <p:pic>
        <p:nvPicPr>
          <p:cNvPr id="11" name="Picture 10" descr="validacion_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51560"/>
            <a:ext cx="6291072" cy="32500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